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2F5F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2F5F9"/>
                </a:solidFill>
                <a:latin typeface="Calibri"/>
              </a:rPr>
              <a:t>Limit growth, 25 percent per on-time term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 at draw, hUSD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94A3B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Term 1</c:v>
                  </c:pt>
                  <c:pt idx="1">
                    <c:v>Term 2</c:v>
                  </c:pt>
                  <c:pt idx="2">
                    <c:v>Term 3</c:v>
                  </c:pt>
                  <c:pt idx="3">
                    <c:v>Term 4</c:v>
                  </c:pt>
                  <c:pt idx="4">
                    <c:v>Term 5</c:v>
                  </c:pt>
                  <c:pt idx="5">
                    <c:v>Term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31.25</c:v>
                </c:pt>
                <c:pt idx="2">
                  <c:v>39.06</c:v>
                </c:pt>
                <c:pt idx="3">
                  <c:v>48.83</c:v>
                </c:pt>
                <c:pt idx="4">
                  <c:v>61.04</c:v>
                </c:pt>
                <c:pt idx="5">
                  <c:v>76.29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94A3B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2A34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6"/>
        </a:solidFill>
        <a:ln w="12700" cap="flat">
          <a:solidFill>
            <a:srgbClr val="0A0E16"/>
          </a:solidFill>
        </a:ln>
        <a:effectLst/>
      </c:spPr>
    </c:plotArea>
    <c:plotVisOnly val="1"/>
    <c:dispBlanksAs val="span"/>
  </c:chart>
  <c:spPr>
    <a:solidFill>
      <a:srgbClr val="0A0E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open. Say the line, then stop talking. The whole pitch is in the second bullet.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Aella runs BNPL for more than a million users on Creditcoin through Credal. This is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87 submissions, read on 2026-09-12. Thirty are the same credit passport. None touch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idea. If they remember one slide, it is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boxes. Do not go deeper than this in the room; the depth slide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scoring criterion. Ten surfaces, and every one is load-bearing.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check this first. Never soften it, and never add a third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minutes. Never speed up a confirmation; cut to the explorer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Attestcoin proves two things. The other ten checks are ours. This is the slide a technical judge lingers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numbers are modeled from the deployed contract parameters, not measured from borrowers. Say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Periscope is the part that is bigger than us. Lead with the roadmap, land on Periscope.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counter line.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40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wallet is not a person.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743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human, one credit line. World ID proof of personhood reaches Creditcoin through the Attestcoin Protocol, a zero-knowledge proof is verified on Creditcoin itself, and a verified human gets an uncollateralized credit line that follows the person, not the wallet.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41605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Creditcoin exists to give credit history to people the banking system cannot see.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uncollateralized design on the chain scores a wallet, and a wallet is free.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wallets, ten perfect histories, then a default on the eleventh at full size.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38160" y="2898648"/>
            <a:ext cx="914400" cy="914400"/>
          </a:xfrm>
          <a:prstGeom prst="ellipse">
            <a:avLst/>
          </a:prstGeom>
          <a:solidFill>
            <a:srgbClr val="151C2A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8986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052560" y="3355848"/>
            <a:ext cx="548640" cy="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0" y="1389888"/>
            <a:ext cx="0" cy="393192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01200" y="1389888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104120" y="1234440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104120" y="12344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1  ·  score 800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601200" y="1783080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104120" y="1627632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04120" y="162763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2  ·  score 800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601200" y="2176272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0104120" y="2020824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104120" y="202082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3  ·  score 800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601200" y="2569464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104120" y="2414016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104120" y="2414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4  ·  score 800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601200" y="2962656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104120" y="2807208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104120" y="28072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5  ·  score 800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9601200" y="3355848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104120" y="3200400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104120" y="320040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6  ·  score 800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601200" y="3749040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104120" y="3593592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04120" y="35935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7  ·  score 800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601200" y="4142232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0104120" y="3986784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104120" y="398678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8  ·  score 800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601200" y="4535424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10104120" y="4379976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104120" y="437997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9  ·  score 800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9601200" y="4928616"/>
            <a:ext cx="502920" cy="0"/>
          </a:xfrm>
          <a:prstGeom prst="line">
            <a:avLst/>
          </a:prstGeom>
          <a:noFill/>
          <a:ln w="12700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0104120" y="4773168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104120" y="4773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10  ·  score 800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9601200" y="5321808"/>
            <a:ext cx="502920" cy="0"/>
          </a:xfrm>
          <a:prstGeom prst="line">
            <a:avLst/>
          </a:prstGeom>
          <a:noFill/>
          <a:ln w="1905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10104120" y="5166360"/>
            <a:ext cx="1627632" cy="310896"/>
          </a:xfrm>
          <a:prstGeom prst="roundRect">
            <a:avLst>
              <a:gd name="adj" fmla="val 41176"/>
            </a:avLst>
          </a:prstGeom>
          <a:solidFill>
            <a:srgbClr val="151C2A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104120" y="516636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11  ·  DEFAULT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9829800" y="557784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wallets, one human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Uncollateralized credit needs a unique borrower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real. The missing piece is not the ledger.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6916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Aella records loans on Creditcoin through Credal and serves more than a million users.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lender without collateral has one question: will this person come back, and is there one of them.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history answers the first. Nothing on Creditcoin answers the second.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has Orb-verified humans in Kenya, Argentina, Indonesia, the Philippines, Brazil and Malaysia. Those are Creditcoin's markets.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World ID's identity tree lives on Ethereum, and Creditcoin cannot see 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37960" y="1691640"/>
            <a:ext cx="5074920" cy="3703320"/>
          </a:xfrm>
          <a:prstGeom prst="roundRect">
            <a:avLst>
              <a:gd name="adj" fmla="val 1481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18288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ways across today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tree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26880" y="2331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0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Creditcoin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+ borrower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823960" y="2788920"/>
            <a:ext cx="502920" cy="0"/>
          </a:xfrm>
          <a:prstGeom prst="line">
            <a:avLst/>
          </a:prstGeom>
          <a:noFill/>
          <a:ln w="25400">
            <a:solidFill>
              <a:srgbClr val="E5484D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812280" y="34930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bridge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38587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trike="sngStrike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oracle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431596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the exact thing the Attestcoin Protocol was built to remove. So we removed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30-passport trap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submissions in this hackathon. About 30 build the same thing.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69164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loan repayments on Sepolia, mint a score, call it a credit passport.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more are AI guardrails. Nine are escrow on proof.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touch identity. Zero use zero-knowledge proofs. Zero do proof of personhood.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passports can be forged by generating a new wallet. Not hacked. Generated.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that means nothing, because the thing being scored is not the thing that owes the money.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37960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99732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61504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23276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85048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46820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08592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770364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32136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93908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155680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617452" y="173736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9732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61504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23276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85048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46820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08592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770364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232136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93908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155680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617452" y="210769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37960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99732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61504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23276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85048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46820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08592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70364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232136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693908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155680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1617452" y="247802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37960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99732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61504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23276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85048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846820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308592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770364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232136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693908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55680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617452" y="2848356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537960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999732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61504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923276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385048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46820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308592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70364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232136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693908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155680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1617452" y="3218688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37960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999732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461504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923276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385048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46820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308592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770364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0232136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10693908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11155680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1617452" y="3589020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537960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999732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461504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923276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85048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846820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9308592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770364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0232136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693908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1155680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11617452" y="3959352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537960" y="432968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999732" y="432968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121825"/>
          </a:solidFill>
          <a:ln w="7620">
            <a:solidFill>
              <a:srgbClr val="1C243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461504" y="4329684"/>
            <a:ext cx="402336" cy="310896"/>
          </a:xfrm>
          <a:prstGeom prst="roundRect">
            <a:avLst>
              <a:gd name="adj" fmla="val 35294"/>
            </a:avLst>
          </a:prstGeom>
          <a:solidFill>
            <a:srgbClr val="F2A93B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537960" y="4855464"/>
            <a:ext cx="182880" cy="182880"/>
          </a:xfrm>
          <a:prstGeom prst="roundRect">
            <a:avLst>
              <a:gd name="adj" fmla="val 100000"/>
            </a:avLst>
          </a:prstGeom>
          <a:solidFill>
            <a:srgbClr val="2E3D59"/>
          </a:solidFill>
          <a:ln w="7620">
            <a:solidFill>
              <a:srgbClr val="4A5D85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812280" y="4809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credit passports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9144000" y="4855464"/>
            <a:ext cx="182880" cy="182880"/>
          </a:xfrm>
          <a:prstGeom prst="roundRect">
            <a:avLst>
              <a:gd name="adj" fmla="val 100000"/>
            </a:avLst>
          </a:prstGeom>
          <a:solidFill>
            <a:srgbClr val="F2A93B"/>
          </a:solidFill>
          <a:ln w="7620">
            <a:solidFill>
              <a:srgbClr val="F2A93B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9418320" y="4809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6537960" y="5175504"/>
            <a:ext cx="5440680" cy="777240"/>
          </a:xfrm>
          <a:prstGeom prst="roundRect">
            <a:avLst>
              <a:gd name="adj" fmla="val 7059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6537960" y="5175504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identity    ·    0 zero-knowledge    ·    0 proof of personhood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nullifier is the human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the person. Never bind the key.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6916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ID nullifier comes from an Orb iris scan and an action string. It is the same value whatever wallet the person uses.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state in Humanline is keyed by it. Nothing is keyed by an address.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Re-bind to a new wallet and the identity, the limit and the history all move with the person.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and the freeze attaches to the nullifier. It survives a new wallet, a new key, a new device.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forgery that breaks every other credit passport costs nothing. Forging this costs a second iris.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63840" y="2011680"/>
            <a:ext cx="2468880" cy="2468880"/>
          </a:xfrm>
          <a:prstGeom prst="ellipse">
            <a:avLst/>
          </a:prstGeom>
          <a:solidFill>
            <a:srgbClr val="0A0E16"/>
          </a:solidFill>
          <a:ln w="9525">
            <a:solidFill>
              <a:srgbClr val="2A344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229600" y="2679192"/>
            <a:ext cx="1737360" cy="1133856"/>
          </a:xfrm>
          <a:prstGeom prst="ellipse">
            <a:avLst/>
          </a:prstGeom>
          <a:solidFill>
            <a:srgbClr val="151C2A"/>
          </a:solidFill>
          <a:ln w="22225">
            <a:solidFill>
              <a:srgbClr val="F2A9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3081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0x7a1c…9fe2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25512" y="1298448"/>
            <a:ext cx="1316736" cy="512064"/>
          </a:xfrm>
          <a:prstGeom prst="roundRect">
            <a:avLst>
              <a:gd name="adj" fmla="val 17857"/>
            </a:avLst>
          </a:prstGeom>
          <a:solidFill>
            <a:srgbClr val="151C2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25512" y="129844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9400032" y="1298448"/>
            <a:ext cx="1316736" cy="512064"/>
          </a:xfrm>
          <a:prstGeom prst="roundRect">
            <a:avLst>
              <a:gd name="adj" fmla="val 17857"/>
            </a:avLst>
          </a:prstGeom>
          <a:solidFill>
            <a:srgbClr val="151C2A"/>
          </a:solidFill>
          <a:ln w="12700">
            <a:solidFill>
              <a:srgbClr val="4EC9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400032" y="129844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458200" y="4361688"/>
            <a:ext cx="1316736" cy="512064"/>
          </a:xfrm>
          <a:prstGeom prst="roundRect">
            <a:avLst>
              <a:gd name="adj" fmla="val 17857"/>
            </a:avLst>
          </a:prstGeom>
          <a:solidFill>
            <a:srgbClr val="151C2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436168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3813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freeze is on the hash, not on any address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come in through Attestcoin. Proofs are checked on Creditcoin. Credit follows the human.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874520"/>
            <a:ext cx="2139696" cy="3154680"/>
          </a:xfrm>
          <a:prstGeom prst="roundRect">
            <a:avLst>
              <a:gd name="adj" fmla="val 2564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2084832"/>
            <a:ext cx="384048" cy="38404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mainnet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3017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sequencer calls registerIdentities about once an hour and emits TreeChanged with the old and new roots.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34056" y="3456432"/>
            <a:ext cx="146304" cy="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07792" y="1874520"/>
            <a:ext cx="2139696" cy="3154680"/>
          </a:xfrm>
          <a:prstGeom prst="roundRect">
            <a:avLst>
              <a:gd name="adj" fmla="val 2564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08960" y="2084832"/>
            <a:ext cx="384048" cy="38404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108960" y="3017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 both source chains, batches up to 10 Attestcoin proofs behind one continuity proof, relays them in order. Holds no privilege.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74920" y="3456432"/>
            <a:ext cx="146304" cy="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248656" y="1874520"/>
            <a:ext cx="2139696" cy="3154680"/>
          </a:xfrm>
          <a:prstGeom prst="roundRect">
            <a:avLst>
              <a:gd name="adj" fmla="val 2564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49824" y="2084832"/>
            <a:ext cx="384048" cy="38404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49824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49824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AttestedWorldID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449824" y="3017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0x0FD2 proves inclusion. The contract cross-checks calldata against the log, chains preRoot to the last known root, and guards on 0x0FD3 and 0x0FD4.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415784" y="3456432"/>
            <a:ext cx="146304" cy="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589520" y="1874520"/>
            <a:ext cx="2139696" cy="3154680"/>
          </a:xfrm>
          <a:prstGeom prst="roundRect">
            <a:avLst>
              <a:gd name="adj" fmla="val 2564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0688" y="2084832"/>
            <a:ext cx="384048" cy="38404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HumanRegistry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790688" y="3017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 Groth16 proof verified natively on Creditcoin, on the bn128 precompiles, against that root. One nullifier, one wallet.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756648" y="3456432"/>
            <a:ext cx="146304" cy="0"/>
          </a:xfrm>
          <a:prstGeom prst="line">
            <a:avLst/>
          </a:prstGeom>
          <a:noFill/>
          <a:ln w="15875">
            <a:solidFill>
              <a:srgbClr val="2A344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9930384" y="1874520"/>
            <a:ext cx="2139696" cy="3154680"/>
          </a:xfrm>
          <a:prstGeom prst="roundRect">
            <a:avLst>
              <a:gd name="adj" fmla="val 2564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131552" y="2084832"/>
            <a:ext cx="384048" cy="38404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3155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131552" y="25968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CreditLine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0131552" y="30175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nullifier. Repay on time and the limit grows a quarter. Repay late and it halves. Miss the grace window and it freezes.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66928" y="544068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owner. No pause. No upgrade path. Anyone can run the relay, and the contracts do not care who does.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Attestcoin depth: ten surfaces, all load-bearing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017520"/>
                <a:gridCol w="5221224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load-bearing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verifyAndEmit (0x0FD2)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ASCBase.execute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root reaches the verifier without it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verification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getBatchProof, executeBatch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 proofs under one continuity proof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Calldata decoding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decodeCommonTxFields(tx).data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Yields postRoot and the count of humans added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decoding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getLogsByEventSignature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root itself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Emitter and status binding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to, log.address_, status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Rejects look-alike events and reverted txs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calculateTxIndex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queryId, sourceTxIndex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key and ordering evidence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ChainInfo (0x0FD3)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Finality depth guard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only 32 blocks behind the attested tip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AttestorStash (0x0FD4)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Quorum floor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Refuses roots attested by a thin set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source chains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chainKey 3 and chainKey 1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and judge-reproducible paths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on top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Semaphore over a relayed root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Attestcoin the verifier has no root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2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66928" y="565099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Attestcoin and Humanline has no roots, so no humans, so no credit. There is no degraded mode.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boring part out loud. It is what makes the rest credible.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5623560" cy="4069080"/>
          </a:xfrm>
          <a:prstGeom prst="roundRect">
            <a:avLst>
              <a:gd name="adj" fmla="val 1348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920240"/>
            <a:ext cx="310896" cy="310896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90195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on chain, right now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423160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mainnet World ID roots, produced by World's own sequencer about once an hour, relayed unattended.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Attestcoin proof verified by the 0x0FD2 precompile inside every relay transaction. No mock, no canned fixture.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Groth16 Semaphore verification executing on Creditcoin CC3, on the bn128 precompiles, in one block.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staging roots and World simulator proofs, so a judge reproduces the whole flow without an Orb.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46520" y="1691640"/>
            <a:ext cx="5166360" cy="4069080"/>
          </a:xfrm>
          <a:prstGeom prst="roundRect">
            <a:avLst>
              <a:gd name="adj" fmla="val 1348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1920240"/>
            <a:ext cx="310896" cy="310896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59752" y="19019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only, and not claimed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hUSD is a test stablecoin we mint. Lender deposits are testnet funds.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deployment uses minute-long loan terms so a full cycle fits in a video.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Attestcoin cannot prove a payment did not happen. We never pretend otherwise.</a:t>
            </a:r>
            <a:endParaRPr lang="en-US" sz="115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●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is declared from a passed deadline plus the absence of a repayment on Creditcoin, which is native state, not a cross-chain absence claim.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943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green claim above links to a transaction on Etherscan or Blockscout from the live app.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minutes, six steps, every step an on-chain artifact.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" y="189280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43584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/relay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10128" y="18928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0:28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235000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Ethereum root landing on Creditcoin. Click through to both transactions and read the humans-added count decoded from the calldata.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80560" y="169164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81728" y="189280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81728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157216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18928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681728" y="235000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Creditcoin wallet, verify with the World simulator, watch registration confirm in one block. The wallet becomes a human.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94192" y="1691640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0" y="189280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070848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137392" y="189280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2350008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line at 25 hUSD, borrow 20, repay, limit grows to 31.25. Every action links to Blockscout.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3822192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" y="4023360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8096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243584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Re-bind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310128" y="40233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2:25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" y="44805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wallet, the same identity. The line and history follow the person. A second line is refused with LineExists.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480560" y="3822192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81728" y="4023360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68172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157216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/judge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223760" y="40233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2:40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681728" y="44805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negative-path suite live. Every attack rejected by a named error.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394192" y="3822192"/>
            <a:ext cx="3657600" cy="1874520"/>
          </a:xfrm>
          <a:prstGeom prst="roundRect">
            <a:avLst>
              <a:gd name="adj" fmla="val 2927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4023360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595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070848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1137392" y="40233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2:52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595360" y="44805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real roots relayed from Ethereum mainnet, M humans in the registry, zero trusted parties.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9618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at https://humanline.credit    ·    demo video linked from the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Attestcoin proves, and what we add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proofs are a primitive. A correct application still supplies its own ordering, binding and replay key.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Attestcoin proves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 +  continuity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97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it proves, and it is enough.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337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our job. Ten checks, in this order: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4904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374904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receipt status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78608" y="374904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33472" y="374904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source contract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" y="416052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416052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emitter binding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578608" y="416052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33472" y="416052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calldata vs log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457200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" y="457200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root chaining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78608" y="457200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33472" y="457200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finality depth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498348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98348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attestor quorum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78608" y="498348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33472" y="498348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replay by queryId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6928" y="539496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539496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root expiry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578608" y="539496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151C2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33472" y="5394960"/>
            <a:ext cx="1792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nullifier uniqueness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937760" y="1783080"/>
            <a:ext cx="6675120" cy="4069080"/>
          </a:xfrm>
          <a:prstGeom prst="roundRect">
            <a:avLst>
              <a:gd name="adj" fmla="val 1348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12080" y="19385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Attacks, and the error that stops them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5212080" y="23774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root or proof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065008" y="23774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at 0x0FD2, first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212080" y="27203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TreeChanged from another contract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065008" y="27203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 by the emitter filter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212080" y="30632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 TreeChanged logs in one tx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065008" y="30632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AmbiguousTreeChange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212080" y="34061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Calldata that disagrees with the log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065008" y="34061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CalldataLogMismatch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212080" y="37490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root, out of sequence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065008" y="3749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UnknownPreRoot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212080" y="40919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shallow enough to be reorged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065008" y="40919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NotFinal, 32 blocks of depth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212080" y="44348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or captured attestor set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8065008" y="44348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ThinQuorum, floor of 3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5212080" y="47777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Replaying a proof already relayed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065008" y="47777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queryId already processed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212080" y="51206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Stealing a proof from the mempool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8065008" y="51206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ProofInvalid, signal is caller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5212080" y="54635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defaulted human with a fresh wallet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8065008" y="54635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LineFrozen, on the nullifier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9893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keys. Every constant is an immutable. Anyone can relay.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and business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personhood layer with a lending business on top, not a lending app with an identity feature.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66928" y="178308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" y="5120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borrower, first year, modeled from the deployed contract parameters. Not measured.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583680" y="1783080"/>
            <a:ext cx="5029200" cy="877824"/>
          </a:xfrm>
          <a:prstGeom prst="roundRect">
            <a:avLst>
              <a:gd name="adj" fmla="val 625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0" y="18562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 USD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9006840" y="18562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draw across six terms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583680" y="2807208"/>
            <a:ext cx="5029200" cy="877824"/>
          </a:xfrm>
          <a:prstGeom prst="roundRect">
            <a:avLst>
              <a:gd name="adj" fmla="val 625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3.76 USD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2880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one first-year borrower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83680" y="3831336"/>
            <a:ext cx="5029200" cy="877824"/>
          </a:xfrm>
          <a:prstGeom prst="roundRect">
            <a:avLst>
              <a:gd name="adj" fmla="val 625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39044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percent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9006840" y="39044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origination, plus a spread on the term fee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88289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lines: a 0.10 USD verification fee from the lender, 1 percent origination, and a spread on the pool.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asset is the shared default record. Ten lenders on one registry is a credit bureau nobody operates.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integration, every repayment and every root is Attestcoin volume.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Roadmap, and Periscope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adds Attestcoin volume instead of replacing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" y="193852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3957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AttestedWorldID and HumanRegistry on Creditcoin mainnet, published as a public read interface. First lender using isHuman as a sybil check through Credal. Two independent relayers.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62272" y="173736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93852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4EC9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8172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157216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681728" y="23957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funded by PenguinSwap LPs. Repay-from-Ethereum: a USDC transfer proven through Attestcoin and credited on Creditcoin. BSC as a source chain when chainKey 8 ships.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57616" y="1737360"/>
            <a:ext cx="3657600" cy="2286000"/>
          </a:xfrm>
          <a:prstGeom prst="roundRect">
            <a:avLst>
              <a:gd name="adj" fmla="val 24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77072" y="1938528"/>
            <a:ext cx="365760" cy="365760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7707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77072" y="239572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pilot in Kenya and Argentina with a lending partner, and a published cohort loss curve for personhood-gated credit. Nobody has one.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" y="4224528"/>
            <a:ext cx="11055096" cy="1737360"/>
          </a:xfrm>
          <a:prstGeom prst="roundRect">
            <a:avLst>
              <a:gd name="adj" fmla="val 3158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9536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Periscope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" y="4718304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4.0 verification lives on World Chain, an OP-Stack rollup whose output roots are posted to Ethereum. Attestcoin already attests Ethereum. Prove the posting and you have proven the rollup.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457200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Humanline feature. It gives Attestcoin reach into every OP-Stack rollup through a chain it already covers. We are just the first application that needs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31575" y="384048"/>
            <a:ext cx="475488" cy="475488"/>
          </a:xfrm>
          <a:prstGeom prst="ellipse">
            <a:avLst/>
          </a:prstGeom>
          <a:solidFill>
            <a:srgbClr val="0A0E16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231575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148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0698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teams enter the CEIP fast-track. We are asking for that, and for three things through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" y="1975104"/>
            <a:ext cx="384048" cy="384048"/>
          </a:xfrm>
          <a:prstGeom prst="ellipse">
            <a:avLst/>
          </a:prstGeom>
          <a:solidFill>
            <a:srgbClr val="0A0E16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2432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8529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6-month supervised pilot in Kenya and Argentina. The deliverable is a published cohort loss curve every Creditcoin lender can underwrite against.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62272" y="178308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81728" y="1975104"/>
            <a:ext cx="384048" cy="384048"/>
          </a:xfrm>
          <a:prstGeom prst="ellipse">
            <a:avLst/>
          </a:prstGeom>
          <a:solidFill>
            <a:srgbClr val="0A0E16"/>
          </a:solidFill>
          <a:ln w="19050">
            <a:solidFill>
              <a:srgbClr val="4EC9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8172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681728" y="2432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EC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lender introduction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681728" y="28529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Aella, or any Credal lender. The registry is one read call from being useful to a loan book that already exists.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57616" y="178308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151C2A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77072" y="1975104"/>
            <a:ext cx="384048" cy="384048"/>
          </a:xfrm>
          <a:prstGeom prst="ellipse">
            <a:avLst/>
          </a:prstGeom>
          <a:solidFill>
            <a:srgbClr val="0A0E1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770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77072" y="2432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support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77072" y="28529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Periscope with the Creditcoin team, bringing World Chain and every other OP-Stack rollup under Attestcoin.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" y="4206240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1E2738"/>
          </a:solidFill>
          <a:ln w="9525">
            <a:solidFill>
              <a:srgbClr val="2A34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" y="4855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ID roots relayed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584448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3584448" y="4855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identities carried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4855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hUSD in the lender pools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070848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9070848" y="4855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parties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66928" y="56509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human, one credit line.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0" y="57058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https://humanline.credit    ·    https://github.com/rajkaria/humanline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Humanline</dc:title>
  <dc:subject>One human, one credit line</dc:subject>
  <dc:creator>Raj Karia</dc:creator>
  <cp:lastModifiedBy>Raj Karia</cp:lastModifiedBy>
  <cp:revision>1</cp:revision>
  <dcterms:created xsi:type="dcterms:W3CDTF">2026-09-12T14:04:16Z</dcterms:created>
  <dcterms:modified xsi:type="dcterms:W3CDTF">2026-09-12T14:04:16Z</dcterms:modified>
</cp:coreProperties>
</file>